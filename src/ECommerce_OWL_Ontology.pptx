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6609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858000" y="-274320"/>
            <a:ext cx="3200400" cy="3200400"/>
          </a:xfrm>
          <a:prstGeom prst="ellipse">
            <a:avLst/>
          </a:prstGeom>
          <a:solidFill>
            <a:srgbClr val="2A3F6B"/>
          </a:solidFill>
          <a:ln w="12700">
            <a:solidFill>
              <a:srgbClr val="2A3F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OWL ONTOLOGY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Formal Knowledge Model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Online Retail Systems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20116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Protégé  ·  OWL 2 DL  ·  SWRL Rules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078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Overview &amp; Goals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65760" y="17922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Class Hierarchy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5786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– Physical &amp; Digital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65760" y="3291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3284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Buyers, Sellers &amp; Users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005072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65760" y="40416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0782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Lifecycle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846320" y="10424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1078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Finance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755648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846320" y="17922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1828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&amp; Delivery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2505456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846320" y="25420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25786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Classes &amp; Restrictions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3255264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846320" y="3291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0680" y="33284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SWRL Rules &amp; Reasoning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4005072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846320" y="40416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40782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&amp; Conclusions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·  TOP-LEVEL CLASS HIERARCHY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ontology is organized around six disjoint top-level classes, each representing a distinct domain concept: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2880" y="1389888"/>
            <a:ext cx="1353312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82880" y="14173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171907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· Balance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59536" y="2103120"/>
            <a:ext cx="0" cy="201168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1645920" y="1389888"/>
            <a:ext cx="1353312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645920" y="14173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171907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· Shipped · Completed · Cancelled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22576" y="2103120"/>
            <a:ext cx="0" cy="201168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108960" y="1389888"/>
            <a:ext cx="135331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108960" y="14173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171907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· DeliveryDest.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85616" y="2103120"/>
            <a:ext cx="0" cy="201168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572000" y="1389888"/>
            <a:ext cx="1353312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572000" y="14173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171907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· Digital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48656" y="2103120"/>
            <a:ext cx="0" cy="201168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035040" y="1389888"/>
            <a:ext cx="135331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035040" y="14173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171907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11696" y="2103120"/>
            <a:ext cx="0" cy="201168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7498080" y="1389888"/>
            <a:ext cx="1353312" cy="713232"/>
          </a:xfrm>
          <a:prstGeom prst="rect">
            <a:avLst/>
          </a:prstGeom>
          <a:solidFill>
            <a:srgbClr val="2A3F6B"/>
          </a:solidFill>
          <a:ln w="12700">
            <a:solidFill>
              <a:srgbClr val="2A3F6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498080" y="14173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0" y="1719072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· Seller · Support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174736" y="2103120"/>
            <a:ext cx="0" cy="201168"/>
          </a:xfrm>
          <a:prstGeom prst="line">
            <a:avLst/>
          </a:prstGeom>
          <a:noFill/>
          <a:ln w="25400">
            <a:solidFill>
              <a:srgbClr val="2A3F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274320" y="2514600"/>
            <a:ext cx="128016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502920" y="25146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→ Physical (Electronic, Clothing, Beauty, Perishable → Refrigerated) · Digital (Licence, Service)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74320" y="2843784"/>
            <a:ext cx="128016" cy="237744"/>
          </a:xfrm>
          <a:prstGeom prst="rect">
            <a:avLst/>
          </a:prstGeom>
          <a:solidFill>
            <a:srgbClr val="2A3F6B"/>
          </a:solidFill>
          <a:ln w="12700">
            <a:solidFill>
              <a:srgbClr val="2A3F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502920" y="284378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Buyer (Individual, Corporate, PrimeSubscriber, VIPBuyer) · Seller (Internal, External) · Support (Human, Automated)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74320" y="3172968"/>
            <a:ext cx="128016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502920" y="31729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→ Order → PhysicalOrder (→ FreeShippingOrder), DigitalOrder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74320" y="3502152"/>
            <a:ext cx="12801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502920" y="3502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→ Payment (CreditCard, Crypto) · Balance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4320" y="3831336"/>
            <a:ext cx="128016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502920" y="383133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→ Storage (→ Warehouse: Official, New, Returns) · DeliveryDestination (→ Address, Locker)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74320" y="4160520"/>
            <a:ext cx="128016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502920" y="4160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→ Pending · Shipped · Completed · Cancelled  —  all four states are mutually disjoint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·  PRODUCTS – PHYSICAL &amp; DIGITAL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886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Product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Object Properties: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weightKg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xsd:float — required (exactly 1)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stockQuantity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xsd:integer — units in stock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3865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storedIn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Warehouse (min 1)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73405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soldBy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Seller (min 1)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· Clothing · Beauty · Perishable → Refrigerated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Class: OutOfStockProduct ≡ Physical ⊓ (stockQuantity ≤ 0)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Class: PrimeProduct ≡ Physical ⊓ ∃storedIn.OfficialWarehouse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868680"/>
            <a:ext cx="411480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2A3F6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754880" y="868680"/>
            <a:ext cx="4114800" cy="411480"/>
          </a:xfrm>
          <a:prstGeom prst="rect">
            <a:avLst/>
          </a:prstGeom>
          <a:solidFill>
            <a:srgbClr val="2A3F6B"/>
          </a:solidFill>
          <a:ln w="12700">
            <a:solidFill>
              <a:srgbClr val="2A3F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846320" y="886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Product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Object Properties: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6916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downloadSizeMB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xsd:float — required (exactly 1)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37760" y="20391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downloadableBy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Buyer (asymmetric)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37760" y="23865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soldBy 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Seller (min 1, inherited)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1546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(licenceKey)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(downloadable service product)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37760" y="38862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Axiom: Digital ⊓ Physical ≡ ⊥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(Physical and Digital are strictly disjoint)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892040"/>
            <a:ext cx="8595360" cy="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·  USER: BUYERS, SELLERS &amp; SUPPORT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834640" cy="4069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83464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886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4048" y="1435608"/>
            <a:ext cx="91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30352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Subclasses: Individual, Corporate, PrimeSubscriber, VIPBuyer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2130552"/>
            <a:ext cx="91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30352" y="20665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→ must have hasVATnumber (exactly 1)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825496"/>
            <a:ext cx="91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30352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VIPBuyer →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receivesSupportFrom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from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3520440"/>
            <a:ext cx="91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30352" y="34564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Properties: hasEmail (functional), hasPassword, registrationDate, livesIn, hasBalance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4215384"/>
            <a:ext cx="91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30352" y="415137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props: firstName, lastName (with Human, Individual, Seller)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868680"/>
            <a:ext cx="2834640" cy="4069080"/>
          </a:xfrm>
          <a:prstGeom prst="rect">
            <a:avLst/>
          </a:prstGeom>
          <a:solidFill>
            <a:srgbClr val="F0F4F8"/>
          </a:solidFill>
          <a:ln w="12700">
            <a:solidFill>
              <a:srgbClr val="2A3F6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3246120" y="868680"/>
            <a:ext cx="2834640" cy="438912"/>
          </a:xfrm>
          <a:prstGeom prst="rect">
            <a:avLst/>
          </a:prstGeom>
          <a:solidFill>
            <a:srgbClr val="2A3F6B"/>
          </a:solidFill>
          <a:ln w="12700">
            <a:solidFill>
              <a:srgbClr val="2A3F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3337560" y="886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55848" y="1435608"/>
            <a:ext cx="91440" cy="91440"/>
          </a:xfrm>
          <a:prstGeom prst="rect">
            <a:avLst/>
          </a:prstGeom>
          <a:solidFill>
            <a:srgbClr val="2A3F6B"/>
          </a:solidFill>
          <a:ln w="12700">
            <a:solidFill>
              <a:srgbClr val="2A3F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502152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Subclasses: Internal, External (disjoint)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55848" y="2130552"/>
            <a:ext cx="91440" cy="91440"/>
          </a:xfrm>
          <a:prstGeom prst="rect">
            <a:avLst/>
          </a:prstGeom>
          <a:solidFill>
            <a:srgbClr val="2A3F6B"/>
          </a:solidFill>
          <a:ln w="12700">
            <a:solidFill>
              <a:srgbClr val="2A3F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3502152" y="20665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→ manages OfficialWarehouse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55848" y="2825496"/>
            <a:ext cx="91440" cy="91440"/>
          </a:xfrm>
          <a:prstGeom prst="rect">
            <a:avLst/>
          </a:prstGeom>
          <a:solidFill>
            <a:srgbClr val="2A3F6B"/>
          </a:solidFill>
          <a:ln w="12700">
            <a:solidFill>
              <a:srgbClr val="2A3F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3502152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TopSeller ≡ Seller ⊓ ∃sellerRating ≥ 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55848" y="3520440"/>
            <a:ext cx="91440" cy="91440"/>
          </a:xfrm>
          <a:prstGeom prst="rect">
            <a:avLst/>
          </a:prstGeom>
          <a:solidFill>
            <a:srgbClr val="2A3F6B"/>
          </a:solidFill>
          <a:ln w="12700">
            <a:solidFill>
              <a:srgbClr val="2A3F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3502152" y="34564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Properties: hasEmail (functional), hasPassword, registrationDate, sellerRating (StarRating 1–5)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55848" y="4215384"/>
            <a:ext cx="91440" cy="91440"/>
          </a:xfrm>
          <a:prstGeom prst="rect">
            <a:avLst/>
          </a:prstGeom>
          <a:solidFill>
            <a:srgbClr val="2A3F6B"/>
          </a:solidFill>
          <a:ln w="12700">
            <a:solidFill>
              <a:srgbClr val="2A3F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3502152" y="415137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products; sells ↔ soldBy (inverse pair)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868680"/>
            <a:ext cx="2834640" cy="4069080"/>
          </a:xfrm>
          <a:prstGeom prst="rect">
            <a:avLst/>
          </a:prstGeom>
          <a:solidFill>
            <a:srgbClr val="F0F4F8"/>
          </a:solidFill>
          <a:ln w="12700">
            <a:solidFill>
              <a:srgbClr val="7C3A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6217920" y="868680"/>
            <a:ext cx="28346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309360" y="886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327648" y="1435608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473952" y="1371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Subclasses: Human, Automated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27648" y="2130552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473952" y="20665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→ Call, Message (disjoint)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27648" y="2825496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6473952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→ Chatbot, FAQ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27648" y="3520440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6473952" y="34564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⊓ Automated ≡ ⊥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27648" y="4215384"/>
            <a:ext cx="914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6473952" y="415137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receive support via receivesSupportFrom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u="sn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·  ORDERS &amp; LIFECYCLE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20624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886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(Transaction)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91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hasOrderID (functional, xsd:string)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746504"/>
            <a:ext cx="91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94360" y="16824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 (xsd:dateTime)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075688"/>
            <a:ext cx="91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9436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placedBy → Buyer (functional, exactly 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404872"/>
            <a:ext cx="91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94360" y="23408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→ Product (min 1)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734056"/>
            <a:ext cx="91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94360" y="2670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hasLifecycle → Lifecycle (exactly 1)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91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94360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paidWith → Payment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392424"/>
            <a:ext cx="91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94360" y="33284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orderOriginatesFrom (chain: placedBy ∘ livesIn)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868680"/>
            <a:ext cx="42062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Lifecycle (all states disjoint)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1298448"/>
            <a:ext cx="9144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709160" y="13167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05272" y="13533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33288" y="1298448"/>
            <a:ext cx="9144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733288" y="13167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29400" y="13533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57416" y="1298448"/>
            <a:ext cx="91440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757416" y="13167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53528" y="135331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81544" y="1298448"/>
            <a:ext cx="9144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7781544" y="13167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17830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has a required cancellationReason (exactly 1 xsd:string)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2423160"/>
            <a:ext cx="4206240" cy="16459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754880" y="2487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Subclasses (Defined)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2852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PhysicalOrder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⊓ ∃contains.Physical  →  must have deliveredTo (exactly 1 DeliveryDestination), shippedFrom (Warehouse)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00600" y="3255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DigitalOrder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⊓ ∀contains.Digital  →  all contained products are digital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0060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FreeShippingOrder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PhysicalOrder ⊓ ∃placedBy.PrimeSubscriber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4160520"/>
            <a:ext cx="8595360" cy="7132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457200" y="42245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Individuals: Order_001 (Mario → Laptop_X_Pro → Locker_1)  ·  Order_002 (Luigi → Mouse_Basic)  ·  Order_003_Digital (Alice → Ebook_OWL)  ·  Order_004_Mixed  ·  Order_005_Cancelled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·  PAYMENTS &amp; FINANCE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top-level class encompasses two branches: Payment (transaction instruments) and Balance (buyer account balance).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834640" cy="228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7C3A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8346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65760" y="14356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CreditCard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1920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of: Payment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" y="23408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maskedCardNumber (exactly 1, xsd:float)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27614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with: Crypto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3182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via: paidWith ← Order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834640" cy="228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59669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83464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337560" y="14356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10712" y="1920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of: Payment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10712" y="23408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walletAddress (exactly 1, xsd:float)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10712" y="27614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with: CreditCard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10712" y="3182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crypto-native checkout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1417320"/>
            <a:ext cx="2834640" cy="228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6217920" y="1417320"/>
            <a:ext cx="283464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309360" y="14356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82512" y="19202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of: Finance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82512" y="23408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accountBalance (xsd:float)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82512" y="27614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via: hasBalance ← Buyer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82512" y="3182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stored wallet funds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840480"/>
            <a:ext cx="859536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57200" y="39136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Datatype: StarRating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2245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StarRating is a restricted xsd:integer constrained to the range [1 … 5]. It is used by the sellerRating data property on the Seller class. The TopSeller defined class uses this datatype with a minimum value facet of 4 to automatically classify high-performing sellers.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 ·  WAREHOUSES &amp; DELIVERY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4134142"/>
          </a:xfrm>
          <a:prstGeom prst="rect">
            <a:avLst/>
          </a:prstGeom>
          <a:solidFill>
            <a:srgbClr val="F0F4F8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20624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886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 Hierarchy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(root)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17373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08483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9264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87552" y="24323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25296" y="24323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OfficialWarehouse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87552" y="277977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25296" y="2779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NewGoodsWarehouse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87552" y="312724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25296" y="3127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ReturnsWarehouse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488" y="34747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3474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DeliveryDestination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38221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9264" y="3822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416966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9264" y="4169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Locker  (lockerPIN: xsd:int)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868680"/>
            <a:ext cx="420624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2A3F6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solidFill>
            <a:srgbClr val="2A3F6B"/>
          </a:solidFill>
          <a:ln w="12700">
            <a:solidFill>
              <a:srgbClr val="2A3F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754880" y="886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Warehouse Properties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137160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managedBy → Seller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46320" y="171907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OfficialWarehouse ⊑ ∃managedBy.Internal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46320" y="206654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products: storedIn → Warehouse (min 1)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46320" y="241401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PhysicalOrder: shippedFrom → Warehouse (functional)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63440" y="2880359"/>
            <a:ext cx="4206240" cy="2122463"/>
          </a:xfrm>
          <a:prstGeom prst="rect">
            <a:avLst/>
          </a:prstGeom>
          <a:solidFill>
            <a:srgbClr val="F0F4F8"/>
          </a:solidFill>
          <a:ln w="12700">
            <a:solidFill>
              <a:srgbClr val="F59E0B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4663440" y="2880360"/>
            <a:ext cx="42062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754880" y="28986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Destination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46320" y="338328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deliveredTo → DeliveryDestination (functional, exactly 1)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46320" y="37307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requiresShipping → DeliveryDestination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46320" y="407822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⊓ Locker ≡ ⊥  (disjoint)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46320" y="442569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Individuals: Locker_1, Locker_2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46320" y="47731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stores streetAddress &amp; cityName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 ·  DEFINED CLASSES &amp; RESTRICTIONS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503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(equivalent) classes are the backbone of OWL reasoning — the classifier can automatically infer class membership: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73152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PremiumProduct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Product ⊓ ∃hasPrice.(xsd:float ≥ 500.0)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2704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product priced at €500 or above is automatically a PremiumProduct.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73152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OutOfStockProduct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Physical ⊓ ∃stockQuantity.(xsd:integer ≤ 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07568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product with zero or negative stock is automatically flagged as out-of-stock.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73152" cy="402336"/>
          </a:xfrm>
          <a:prstGeom prst="rect">
            <a:avLst/>
          </a:prstGeom>
          <a:solidFill>
            <a:srgbClr val="2A3F6B"/>
          </a:solidFill>
          <a:ln w="12700">
            <a:solidFill>
              <a:srgbClr val="2A3F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PrimeProduct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Physical ⊓ ∃storedIn.OfficialWarehouse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2432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products stored in an OfficialWarehouse (managed by an Internal seller) qualify as Prime.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73152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TopSeller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Seller ⊓ ∃sellerRating.(StarRating ≥ 4)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7296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with a rating of 4 or 5 are automatically classified as TopSellers.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74720"/>
            <a:ext cx="73152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57200" y="34747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PhysicalOrder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Order ⊓ ∃contains.Physical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72160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containing at least one physical product triggers delivery, shipping, and warehouse constraints.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023360"/>
            <a:ext cx="7315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DigitalOrder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Order ⊓ ∀contains.Digital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7024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where every contained item is digital — no shipping required.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572000"/>
            <a:ext cx="73152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FreeShippingOrder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PhysicalOrder ⊓ ∃placedBy.PrimeSubscriber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1888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orders placed by Prime subscribers are automatically granted free shipping.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 ·  SWRL RULES &amp; REASONING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2057400"/>
          </a:xfrm>
          <a:prstGeom prst="rect">
            <a:avLst/>
          </a:prstGeom>
          <a:solidFill>
            <a:srgbClr val="F0F4F8"/>
          </a:solidFill>
          <a:ln w="12700">
            <a:solidFill>
              <a:srgbClr val="0891B2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Chain Axiom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orderOriginatesFrom ≡ placedBy ∘ livesIn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chain axiom enables a reasoner to infer the geographic origin of an order directly from the buyer's registered location — without explicitly asserting the fact on each order instance.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206240" cy="2057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80060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SWRL Rule: AssignVIPStatus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29844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Buyer(?b) ∧ placedBy(?o, ?b) ∧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PremiumProduct(?p) ∧ contains(?o, ?p)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─────────────────────────────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VIPBuyer(?b)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01752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buyer who has placed an order containing a PremiumProduct (price ≥ €500) is automatically inferred to be a VIPBuyer by the SWRL rule engine.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639312"/>
            <a:ext cx="859536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3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OWL Property Characteristics Used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Functional: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placedBy, deliveredTo, shippedFrom, hasEmail, hasOrderID — at most one value per instance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+ Irreflexive: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boughtBy, soldBy, placedBy, deliveredTo, shippedFrom — directional, no self-loops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90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Pairs: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boughtBy ↔ purchased  |  sells ↔ soldBy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·  INDIVIDUALS &amp; CONCLUSIONS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503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3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Individuals (all declared distinct via owl:AllDifferent)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157984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9184" y="1271016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87168" y="1234440"/>
            <a:ext cx="1609344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542032" y="1271016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51376" y="1234440"/>
            <a:ext cx="4626864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206240" y="1271016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581912"/>
            <a:ext cx="21579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29184" y="161848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Buyer_Mario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87168" y="1581912"/>
            <a:ext cx="16093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542032" y="161848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51376" y="1581912"/>
            <a:ext cx="46268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206240" y="1618488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Rome · orders Laptop_X_Pro → Locker_1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929384"/>
            <a:ext cx="2157984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29184" y="196596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Buyer_Luigi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87168" y="1929384"/>
            <a:ext cx="1609344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2542032" y="19659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51376" y="1929384"/>
            <a:ext cx="4626864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206240" y="1965960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Mouse_Basic · has cancelled order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276856"/>
            <a:ext cx="21579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329184" y="231343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Buyer_Alice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87168" y="2276856"/>
            <a:ext cx="16093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2542032" y="231343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51376" y="2276856"/>
            <a:ext cx="46268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206240" y="2313432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London · orders Ebook_OWL (digital)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624328"/>
            <a:ext cx="2157984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329184" y="26609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Tech_Corp_Inc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487168" y="2624328"/>
            <a:ext cx="1609344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2542032" y="266090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51376" y="2624328"/>
            <a:ext cx="4626864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206240" y="2660904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VAT: GB123456789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2971800"/>
            <a:ext cx="21579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329184" y="3008376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Official_Seller_IT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487168" y="2971800"/>
            <a:ext cx="16093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2542032" y="3008376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151376" y="2971800"/>
            <a:ext cx="46268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4206240" y="3008376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Rating: 5 → TopSeller · email: admin@ecommerce.com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3319272"/>
            <a:ext cx="2157984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329184" y="335584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External_Seller_Cheap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487168" y="3319272"/>
            <a:ext cx="1609344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2542032" y="335584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151376" y="3319272"/>
            <a:ext cx="4626864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4206240" y="3355848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Rating: 2 · sells Mouse_Basic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3666744"/>
            <a:ext cx="21579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329184" y="370332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Laptop_X_Pro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487168" y="3666744"/>
            <a:ext cx="16093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2542032" y="370332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151376" y="3666744"/>
            <a:ext cx="46268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4206240" y="3703320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€1200 · stock: 0 → OutOfStockProduct · PremiumProduct · PrimeProduct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74320" y="4014216"/>
            <a:ext cx="2157984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329184" y="405079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Smartphone_Y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487168" y="4014216"/>
            <a:ext cx="1609344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2542032" y="405079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151376" y="4014216"/>
            <a:ext cx="4626864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4206240" y="4050792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€800 · stored in ReturnsWarehouse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74320" y="4361688"/>
            <a:ext cx="21579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329184" y="439826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/ Fresh_Milk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487168" y="4361688"/>
            <a:ext cx="160934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2542032" y="439826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Perishable / Refrigerated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151376" y="4361688"/>
            <a:ext cx="46268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4206240" y="4398264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 dates set · Fresh_Milk at 4°C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74320" y="4645152"/>
            <a:ext cx="8595360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64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ontology provides a complete, reasoning-ready semantic model for e-commerce — enabling automated product classification, buyer status inference, and order routing through OWL restrictions and SWRL rules.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1482</Words>
  <Application>Microsoft Office PowerPoint</Application>
  <PresentationFormat>Presentazione su schermo (16:9)</PresentationFormat>
  <Paragraphs>232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OWL Ontology</dc:title>
  <dc:subject>PptxGenJS Presentation</dc:subject>
  <dc:creator>Matti</dc:creator>
  <cp:lastModifiedBy>MATTIA LOMUTO</cp:lastModifiedBy>
  <cp:revision>5</cp:revision>
  <dcterms:created xsi:type="dcterms:W3CDTF">2026-03-10T13:34:14Z</dcterms:created>
  <dcterms:modified xsi:type="dcterms:W3CDTF">2026-03-11T08:36:22Z</dcterms:modified>
</cp:coreProperties>
</file>